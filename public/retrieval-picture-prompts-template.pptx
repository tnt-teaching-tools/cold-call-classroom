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24e6eaa1c1d4a41" /><Relationship Type="http://schemas.openxmlformats.org/officeDocument/2006/relationships/extended-properties" Target="/docProps/app.xml" Id="Rb59322f16ecd4dab" /><Relationship Type="http://schemas.openxmlformats.org/officeDocument/2006/relationships/officeDocument" Target="/ppt/presentation.xml" Id="Rf1da684f71aa4e5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c7b089d0f004bc5"/>
  </p:sldMasterIdLst>
  <p:notesMasterIdLst>
    <p:notesMasterId xmlns:r="http://schemas.openxmlformats.org/officeDocument/2006/relationships" r:id="Rc440196409394048"/>
  </p:notesMasterIdLst>
  <p:sldIdLst>
    <p:sldId xmlns:r="http://schemas.openxmlformats.org/officeDocument/2006/relationships" id="256" r:id="R8eef51a66daf47a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6ed647d2ee74ea2" /><Relationship Type="http://schemas.openxmlformats.org/officeDocument/2006/relationships/slideMaster" Target="/ppt/slideMasters/slideMaster1.xml" Id="Rbc7b089d0f004bc5" /><Relationship Type="http://schemas.openxmlformats.org/officeDocument/2006/relationships/notesMaster" Target="/ppt/notesMasters/notesMaster1.xml" Id="Rc440196409394048" /><Relationship Type="http://schemas.openxmlformats.org/officeDocument/2006/relationships/presProps" Target="/ppt/presProps.xml" Id="R853cc1a884e74aa4" /><Relationship Type="http://schemas.openxmlformats.org/officeDocument/2006/relationships/tableStyles" Target="/ppt/tableStyles.xml" Id="R7a9b6dc8bcd84f15" /><Relationship Type="http://schemas.openxmlformats.org/officeDocument/2006/relationships/slide" Target="/ppt/slides/slide1.xml" Id="R8eef51a66daf47a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0cd00fa77b9416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0dc9e7ee7f648b4" /><Relationship Type="http://schemas.openxmlformats.org/officeDocument/2006/relationships/notesMaster" Target="/ppt/notesMasters/notesMaster1.xml" Id="R5fc2825210c2468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Teacher setup: Replace bracketed text before teaching. Every text box is editable. Duplicate the slide for checked answers or a second prompt. Keep prompt and answer sides separate when printing cards.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Activity: Picture prompts</a:t>
            </a:r>
          </a:p>
          <a:p xmlns:a="http://schemas.openxmlformats.org/drawingml/2006/main">
            <a:r>
              <a:t>Materials: A relevant image with answer labels hidden</a:t>
            </a:r>
          </a:p>
          <a:p xmlns:a="http://schemas.openxmlformats.org/drawingml/2006/main">
            <a:r>
              <a:t>Suggested total time including feedback: 6 minutes.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Choose the image: Use a diagram or photograph connected to taught material; hide answer labels.</a:t>
            </a:r>
          </a:p>
          <a:p xmlns:a="http://schemas.openxmlformats.org/drawingml/2006/main">
            <a:r>
              <a:t>2. Recall details: Students write remembered labels, steps or explanations independently.</a:t>
            </a:r>
          </a:p>
          <a:p xmlns:a="http://schemas.openxmlformats.org/drawingml/2006/main">
            <a:r>
              <a:t>3. Explain connections: Ask learners to connect the visual to the taught ideas.</a:t>
            </a:r>
          </a:p>
          <a:p xmlns:a="http://schemas.openxmlformats.org/drawingml/2006/main">
            <a:r>
              <a:t>4. Reveal and check: Show a checked explanation and correct mistakes.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Check: An image containing all the answers can turn the task into copying. Keep the initial cue useful without revealing the target knowledge.</a:t>
            </a:r>
          </a:p>
          <a:p xmlns:a="http://schemas.openxmlformats.org/drawingml/2006/main">
            <a:r>
              <a:t>Adapt: Provide a verbal description or accessible alternative to the image.</a:t>
            </a:r>
          </a:p>
          <a:p xmlns:a="http://schemas.openxmlformats.org/drawingml/2006/main">
            <a:r>
              <a:t>Credit: Shared visual-cue method; TNT classroom adaptation</a:t>
            </a:r>
          </a:p>
          <a:p xmlns:a="http://schemas.openxmlformats.org/drawingml/2006/main">
            <a:r>
              <a:t>No single originator is verified for this broad routine. The link supports retrieval principles rather than establishing ownership of picture prompts.</a:t>
            </a:r>
          </a:p>
          <a:p xmlns:a="http://schemas.openxmlformats.org/drawingml/2006/main">
            <a:r>
              <a:t>Source: https://pdf.retrievalpractice.org/RetrievalPracticeGuide.pdf</a:t>
            </a:r>
          </a:p>
          <a:p xmlns:a="http://schemas.openxmlformats.org/drawingml/2006/main">
            <a:r>
              <a:t>Full guide: https://tnt-teaching-tools.github.io/cold-call-classroom/retrieval-picture-prompts.html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aba45fcb774b2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af19632b9f4e1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2cf6c6e8da4f2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7dc9fa057e436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03afe5635c4cb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d26fb3eb70452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5E7C1A9B-CABD-4A46-B969-C1A3E3F68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D9B19FE-443E-42E5-A58B-9C8BEE81037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776DDA6A-4900-4FE4-A3EE-683DF5EC782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4016B658-8B90-40EF-8FC1-DB6626CF2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765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AA7E435-EC52-4DCF-B81D-DC2CC21695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4DB8DC6D-E6CF-4471-A4FE-3A77A4E51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6A4BB23-271B-4719-8F61-2F36C717CF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9CD72F77-2452-4F06-824A-8549FC2B4A3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6AB5ED25-D09B-467D-8816-B12B85AAC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B7A9E1E-A4ED-46DD-A450-12385C892B3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A2C8AE1-4D70-4D97-937E-53CCFB23104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DDA8EE1-CEF1-40A4-ACE7-CAE60974E0F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D742B5B5-0EC0-4F16-8DFA-189A8D41A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677F1A2-EE27-407D-9737-ED4C8D15EE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7DB3A3D-4863-4572-B990-92449E9EBA1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97f8f350e30459b" /><Relationship Type="http://schemas.openxmlformats.org/officeDocument/2006/relationships/slideLayout" Target="/ppt/slideLayouts/slideLayout1.xml" Id="R07169d5ad6354df6" /><Relationship Type="http://schemas.openxmlformats.org/officeDocument/2006/relationships/slideLayout" Target="/ppt/slideLayouts/slideLayout2.xml" Id="Rd2d2cf276ef6465f" /><Relationship Type="http://schemas.openxmlformats.org/officeDocument/2006/relationships/slideLayout" Target="/ppt/slideLayouts/slideLayout3.xml" Id="R7858a23a0c654325" /><Relationship Type="http://schemas.openxmlformats.org/officeDocument/2006/relationships/slideLayout" Target="/ppt/slideLayouts/slideLayout4.xml" Id="Rf460ed11870d4f6c" /><Relationship Type="http://schemas.openxmlformats.org/officeDocument/2006/relationships/slideLayout" Target="/ppt/slideLayouts/slideLayout5.xml" Id="R49d6c74bbb134555" /><Relationship Type="http://schemas.openxmlformats.org/officeDocument/2006/relationships/slideLayout" Target="/ppt/slideLayouts/slideLayout6.xml" Id="R48c4508df3e14b6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7169d5ad6354df6"/>
    <p:sldLayoutId xmlns:r="http://schemas.openxmlformats.org/officeDocument/2006/relationships" id="2147483650" r:id="Rd2d2cf276ef6465f"/>
    <p:sldLayoutId xmlns:r="http://schemas.openxmlformats.org/officeDocument/2006/relationships" id="2147483651" r:id="R7858a23a0c654325"/>
    <p:sldLayoutId xmlns:r="http://schemas.openxmlformats.org/officeDocument/2006/relationships" id="2147483652" r:id="Rf460ed11870d4f6c"/>
    <p:sldLayoutId xmlns:r="http://schemas.openxmlformats.org/officeDocument/2006/relationships" id="2147483653" r:id="R49d6c74bbb134555"/>
    <p:sldLayoutId xmlns:r="http://schemas.openxmlformats.org/officeDocument/2006/relationships" id="2147483654" r:id="R48c4508df3e14b6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a5cbd23a5f4ccd" /><Relationship Type="http://schemas.openxmlformats.org/officeDocument/2006/relationships/notesSlide" Target="/ppt/notesSlides/notesSlide1.xml" Id="Reed35f9bf6b045d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C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191A0B-5D98-4A30-BFAC-BF38D9582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109728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242720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242720"/>
                </a:solidFill>
                <a:latin typeface="Arial"/>
                <a:ea typeface="Arial"/>
                <a:cs typeface="Arial"/>
              </a:rPr>
              <a:t>Picture prompts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997D44-70C7-45F6-84EA-17E1919D2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90625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42720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242720"/>
                </a:solidFill>
                <a:latin typeface="Arial"/>
                <a:ea typeface="Arial"/>
                <a:cs typeface="Arial"/>
              </a:rPr>
              <a:t>[Add your topic or retrieval focus]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0B0019-6BD2-41CF-979C-F0EBD5806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8534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8534A"/>
                </a:solidFill>
                <a:latin typeface="Arial"/>
                <a:ea typeface="Arial"/>
                <a:cs typeface="Arial"/>
              </a:rPr>
              <a:t>Recall independently first. Check and improve after feedback.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107434-48A8-4B1B-A1F8-86B44747C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5400675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0C4"/>
            </a:solidFill>
          </a:ln>
        </p:spPr>
        <p:txBody>
          <a:bodyPr xmlns:a="http://schemas.openxmlformats.org/drawingml/2006/main" lIns="142875" tIns="114300" rIns="142875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42473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42473D"/>
                </a:solidFill>
                <a:latin typeface="Arial"/>
                <a:ea typeface="Arial"/>
                <a:cs typeface="Arial"/>
              </a:rPr>
              <a:t>[Insert a familiar image]</a:t>
            </a:r>
          </a:p>
          <a:p xmlns:a="http://schemas.openxmlformats.org/drawingml/2006/main">
            <a:pPr>
              <a:defRPr sz="1950" b="0">
                <a:solidFill>
                  <a:srgbClr val="42473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42473D"/>
                </a:solidFill>
                <a:latin typeface="Arial"/>
                <a:ea typeface="Arial"/>
                <a:cs typeface="Arial"/>
              </a:rPr>
              <a:t>Hide answer labels before recall.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A0A64D-462B-4A21-AAB4-D469756DA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190750"/>
            <a:ext cx="5400675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BD0C4"/>
            </a:solidFill>
          </a:ln>
        </p:spPr>
        <p:txBody>
          <a:bodyPr xmlns:a="http://schemas.openxmlformats.org/drawingml/2006/main" lIns="142875" tIns="114300" rIns="142875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42473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42473D"/>
                </a:solidFill>
                <a:latin typeface="Arial"/>
                <a:ea typeface="Arial"/>
                <a:cs typeface="Arial"/>
              </a:rPr>
              <a:t>[Add recall instructions]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42473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42473D"/>
                </a:solidFill>
                <a:latin typeface="Arial"/>
                <a:ea typeface="Arial"/>
                <a:cs typeface="Arial"/>
              </a:rPr>
              <a:t>[Add checked labels or explanations to reveal later]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D5587A-62A1-4229-ACE9-D37A1CC32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28534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28534A"/>
                </a:solidFill>
                <a:latin typeface="Arial"/>
                <a:ea typeface="Arial"/>
                <a:cs typeface="Arial"/>
              </a:rPr>
              <a:t>Time: [Add minutes]     Check: [Add your feedback routine]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A920C3-871F-45C6-8AEA-A20980D92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2675C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2675C"/>
                </a:solidFill>
                <a:latin typeface="Arial"/>
                <a:ea typeface="Arial"/>
                <a:cs typeface="Arial"/>
              </a:rPr>
              <a:t>TNT Teaching Tools   Editable classroom template   Source and teacher guidance in speaker notes</a:t>
            </a:r>
          </a:p>
        </p:txBody>
      </p:sp>
    </p:spTree>
    <p:extLst>
      <p:ext uri="{BB962C8B-B14F-4D97-AF65-F5344CB8AC3E}">
        <p14:creationId xmlns:p14="http://schemas.microsoft.com/office/powerpoint/2010/main" val="4795555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2026-10-07T03:43:17.0310000Z</dcterms:created>
  <dcterms:modified xsi:type="dcterms:W3CDTF">2026-10-07T03:43:17.0310000Z</dcterms:modified>
</coreProperties>
</file>