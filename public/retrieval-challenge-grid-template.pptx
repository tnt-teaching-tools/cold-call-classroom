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3ed75f02ea428a" /><Relationship Type="http://schemas.openxmlformats.org/officeDocument/2006/relationships/extended-properties" Target="/docProps/app.xml" Id="R6216b54348514f2a" /><Relationship Type="http://schemas.openxmlformats.org/officeDocument/2006/relationships/officeDocument" Target="/ppt/presentation.xml" Id="R4c30c7b9c44544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c76f4a7ea6480f"/>
  </p:sldMasterIdLst>
  <p:notesMasterIdLst>
    <p:notesMasterId xmlns:r="http://schemas.openxmlformats.org/officeDocument/2006/relationships" r:id="R68b0e3f08b9f4be8"/>
  </p:notesMasterIdLst>
  <p:sldIdLst>
    <p:sldId xmlns:r="http://schemas.openxmlformats.org/officeDocument/2006/relationships" id="256" r:id="Red2a174866d548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0b6c6f063411d" /><Relationship Type="http://schemas.openxmlformats.org/officeDocument/2006/relationships/slideMaster" Target="/ppt/slideMasters/slideMaster1.xml" Id="Rffc76f4a7ea6480f" /><Relationship Type="http://schemas.openxmlformats.org/officeDocument/2006/relationships/notesMaster" Target="/ppt/notesMasters/notesMaster1.xml" Id="R68b0e3f08b9f4be8" /><Relationship Type="http://schemas.openxmlformats.org/officeDocument/2006/relationships/presProps" Target="/ppt/presProps.xml" Id="Rbae092282af447f0" /><Relationship Type="http://schemas.openxmlformats.org/officeDocument/2006/relationships/tableStyles" Target="/ppt/tableStyles.xml" Id="Rd58e264547be4420" /><Relationship Type="http://schemas.openxmlformats.org/officeDocument/2006/relationships/slide" Target="/ppt/slides/slide1.xml" Id="Red2a174866d548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715473349a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4e2ccd9cde4ea2" /><Relationship Type="http://schemas.openxmlformats.org/officeDocument/2006/relationships/notesMaster" Target="/ppt/notesMasters/notesMaster1.xml" Id="Rc9d410df419f42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Every text box is editable. Duplicate the slide for checked answers or a second prompt. Keep prompt and answer sides separate when printing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Activity: Retrieval challenge grid</a:t>
            </a:r>
          </a:p>
          <a:p xmlns:a="http://schemas.openxmlformats.org/drawingml/2006/main">
            <a:r>
              <a:t>Materials: A small teacher-made grid and checked answers</a:t>
            </a:r>
          </a:p>
          <a:p xmlns:a="http://schemas.openxmlformats.org/drawingml/2006/main">
            <a:r>
              <a:t>Suggested total time including feedback: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Prepare the grid: Include prompts from last lesson, last week and earlier learning.</a:t>
            </a:r>
          </a:p>
          <a:p xmlns:a="http://schemas.openxmlformats.org/drawingml/2006/main">
            <a:r>
              <a:t>2. Choose coverage: Require at least one response from each time category.</a:t>
            </a:r>
          </a:p>
          <a:p xmlns:a="http://schemas.openxmlformats.org/drawingml/2006/main">
            <a:r>
              <a:t>3. Retrieve: Everyone answers independently before opening notes.</a:t>
            </a:r>
          </a:p>
          <a:p xmlns:a="http://schemas.openxmlformats.org/drawingml/2006/main">
            <a:r>
              <a:t>4. Check gaps: Review answers and correct missing or inaccurate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Age of content is not a reliable measure of difficulty. Points should never replace checking understanding.</a:t>
            </a:r>
          </a:p>
          <a:p xmlns:a="http://schemas.openxmlformats.org/drawingml/2006/main">
            <a:r>
              <a:t>Adapt: Use fewer cells or oral responses; label categories so colour is never the only cue.</a:t>
            </a:r>
          </a:p>
          <a:p xmlns:a="http://schemas.openxmlformats.org/drawingml/2006/main">
            <a:r>
              <a:t>Credit: Kate Jones — Retrieval Practice Challenge Grids</a:t>
            </a:r>
          </a:p>
          <a:p xmlns:a="http://schemas.openxmlformats.org/drawingml/2006/main">
            <a:r>
              <a:t>Jones links her challenge grid to content taught at different times. TNT uses time labels as well as colour and keeps points optional.</a:t>
            </a:r>
          </a:p>
          <a:p xmlns:a="http://schemas.openxmlformats.org/drawingml/2006/main">
            <a:r>
              <a:t>Source: https://tile.psy.gla.ac.uk/2019/12/03/tile-share-best-practice-retrieval-practice-research-and-resources-for-every-classroom-by-kate-jones/</a:t>
            </a:r>
          </a:p>
          <a:p xmlns:a="http://schemas.openxmlformats.org/drawingml/2006/main">
            <a:r>
              <a:t>Full guide: https://tnt-teaching-tools.github.io/cold-call-classroom/retrieval-challenge-grid.html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4ab951bbd41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dd792c2df47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8089c61c741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1b584b91c44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e803770c24d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f33e11b154c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F11E4D1-AE4D-46B5-AFFE-4105782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8DB07A-3F6C-4166-94BE-F39F592F0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1A41397-3BE9-4FDE-AFF7-30C41AD287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ABFE25A-A3C7-40E4-AE97-1AB0D0E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FE6EEB-DE0A-4106-99DF-B665A335E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4001BE-BE2F-4BC0-937B-CDFE4B4A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4815964-A4FE-4F0D-90A5-5873975C1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81781AD-A85A-44BB-A82F-3EC30914D9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3EBD3AA-2B9A-4CA0-9038-5B7F8096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3D60A1-D401-47E3-A6E8-D6C1CB92E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02D771-8819-48D9-B0FF-38E4C33E0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2BC1BEE-12D6-4983-92C8-B4BBEB647F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A9CFBC7-98A0-43C6-BA06-5EC15B3F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235D27-48D6-46FF-A84F-9292D50E8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8E2B04-CC57-4F6C-A55F-378F497684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41725524b74e2f" /><Relationship Type="http://schemas.openxmlformats.org/officeDocument/2006/relationships/slideLayout" Target="/ppt/slideLayouts/slideLayout1.xml" Id="R0701e02fbf0145aa" /><Relationship Type="http://schemas.openxmlformats.org/officeDocument/2006/relationships/slideLayout" Target="/ppt/slideLayouts/slideLayout2.xml" Id="R2b1c147ddfbb4e21" /><Relationship Type="http://schemas.openxmlformats.org/officeDocument/2006/relationships/slideLayout" Target="/ppt/slideLayouts/slideLayout3.xml" Id="Rd6c668355ce64dd2" /><Relationship Type="http://schemas.openxmlformats.org/officeDocument/2006/relationships/slideLayout" Target="/ppt/slideLayouts/slideLayout4.xml" Id="R47b092a36f794fbe" /><Relationship Type="http://schemas.openxmlformats.org/officeDocument/2006/relationships/slideLayout" Target="/ppt/slideLayouts/slideLayout5.xml" Id="Rc42a3b28ff744e3f" /><Relationship Type="http://schemas.openxmlformats.org/officeDocument/2006/relationships/slideLayout" Target="/ppt/slideLayouts/slideLayout6.xml" Id="R3f417722183a4d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01e02fbf0145aa"/>
    <p:sldLayoutId xmlns:r="http://schemas.openxmlformats.org/officeDocument/2006/relationships" id="2147483650" r:id="R2b1c147ddfbb4e21"/>
    <p:sldLayoutId xmlns:r="http://schemas.openxmlformats.org/officeDocument/2006/relationships" id="2147483651" r:id="Rd6c668355ce64dd2"/>
    <p:sldLayoutId xmlns:r="http://schemas.openxmlformats.org/officeDocument/2006/relationships" id="2147483652" r:id="R47b092a36f794fbe"/>
    <p:sldLayoutId xmlns:r="http://schemas.openxmlformats.org/officeDocument/2006/relationships" id="2147483653" r:id="Rc42a3b28ff744e3f"/>
    <p:sldLayoutId xmlns:r="http://schemas.openxmlformats.org/officeDocument/2006/relationships" id="2147483654" r:id="R3f417722183a4d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0dc60058e4363" /><Relationship Type="http://schemas.openxmlformats.org/officeDocument/2006/relationships/notesSlide" Target="/ppt/notesSlides/notesSlide1.xml" Id="Rabd023e1c7f942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322DE-800C-4EFF-B0C1-0A9A64A0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242720"/>
                </a:solidFill>
                <a:latin typeface="Arial"/>
                <a:ea typeface="Arial"/>
                <a:cs typeface="Arial"/>
              </a:rPr>
              <a:t>Retrieval challenge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EF72C-B922-436A-AD4F-D7AE4F49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272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2720"/>
                </a:solidFill>
                <a:latin typeface="Arial"/>
                <a:ea typeface="Arial"/>
                <a:cs typeface="Arial"/>
              </a:rPr>
              <a:t>[Add 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C850A-88DC-41C7-AFC5-1B30A0D7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Recall independently first. Check and improve after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9C0F9-11AF-423D-A0C0-881F0D12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lesson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233B5-0EEA-4954-B6C1-56B8ABD4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week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AEEB2-D09E-4543-82E0-CBEF14DE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Earlier learning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58B66-C270-46DE-9783-61991EC0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lesson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4AF2D-9A02-4F0E-9191-68C06C17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Last week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DADE6-E34D-4525-B49C-B42F9F9D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543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0C4"/>
            </a:solidFill>
          </a:ln>
        </p:spPr>
        <p:txBody>
          <a:bodyPr xmlns:a="http://schemas.openxmlformats.org/drawingml/2006/main" lIns="142875" tIns="114300" rIns="142875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Earlier learning</a:t>
            </a:r>
          </a:p>
          <a:p xmlns:a="http://schemas.openxmlformats.org/drawingml/2006/main">
            <a:pPr>
              <a:defRPr sz="1950" b="0">
                <a:solidFill>
                  <a:srgbClr val="4247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473D"/>
                </a:solidFill>
                <a:latin typeface="Arial"/>
                <a:ea typeface="Arial"/>
                <a:cs typeface="Arial"/>
              </a:rPr>
              <a:t>[Add a prompt]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D2E8A-B789-4F69-B95E-0A46428C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53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534A"/>
                </a:solidFill>
                <a:latin typeface="Arial"/>
                <a:ea typeface="Arial"/>
                <a:cs typeface="Arial"/>
              </a:rPr>
              <a:t>Time: [Add minutes]     Check: [Add your feedback routine]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06DC1-AEE3-4682-BF5C-1AB33C01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75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75C"/>
                </a:solidFill>
                <a:latin typeface="Arial"/>
                <a:ea typeface="Arial"/>
                <a:cs typeface="Arial"/>
              </a:rPr>
              <a:t>TNT Teaching Tools   Editable classroom template   Source and teacher guidance in speaker notes</a:t>
            </a:r>
          </a:p>
        </p:txBody>
      </p:sp>
    </p:spTree>
    <p:extLst>
      <p:ext uri="{BB962C8B-B14F-4D97-AF65-F5344CB8AC3E}">
        <p14:creationId xmlns:p14="http://schemas.microsoft.com/office/powerpoint/2010/main" val="2108147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2026-10-07T03:43:03.2670000Z</dcterms:created>
  <dcterms:modified xsi:type="dcterms:W3CDTF">2026-10-07T03:43:03.2670000Z</dcterms:modified>
</coreProperties>
</file>