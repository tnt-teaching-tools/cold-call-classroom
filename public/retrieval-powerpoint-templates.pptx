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340660e5624f7c" /><Relationship Type="http://schemas.openxmlformats.org/officeDocument/2006/relationships/extended-properties" Target="/docProps/app.xml" Id="Rb4eed64229904c14" /><Relationship Type="http://schemas.openxmlformats.org/officeDocument/2006/relationships/officeDocument" Target="/ppt/presentation.xml" Id="Rf07975ba2a0a46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376a44c174486a"/>
  </p:sldMasterIdLst>
  <p:notesMasterIdLst>
    <p:notesMasterId xmlns:r="http://schemas.openxmlformats.org/officeDocument/2006/relationships" r:id="Rf0549d59a32440da"/>
  </p:notesMasterIdLst>
  <p:sldIdLst>
    <p:sldId xmlns:r="http://schemas.openxmlformats.org/officeDocument/2006/relationships" id="256" r:id="R330f04edc625476b"/>
    <p:sldId xmlns:r="http://schemas.openxmlformats.org/officeDocument/2006/relationships" id="257" r:id="R5c38f997cb8643f5"/>
    <p:sldId xmlns:r="http://schemas.openxmlformats.org/officeDocument/2006/relationships" id="258" r:id="R91a2d5ba83504874"/>
    <p:sldId xmlns:r="http://schemas.openxmlformats.org/officeDocument/2006/relationships" id="259" r:id="R662eb804c01f4c5b"/>
    <p:sldId xmlns:r="http://schemas.openxmlformats.org/officeDocument/2006/relationships" id="260" r:id="R564a1896113244df"/>
    <p:sldId xmlns:r="http://schemas.openxmlformats.org/officeDocument/2006/relationships" id="261" r:id="R2dfc0b6640764c32"/>
    <p:sldId xmlns:r="http://schemas.openxmlformats.org/officeDocument/2006/relationships" id="262" r:id="R4126bc810b57479e"/>
    <p:sldId xmlns:r="http://schemas.openxmlformats.org/officeDocument/2006/relationships" id="263" r:id="R1ebc4f659cac494c"/>
    <p:sldId xmlns:r="http://schemas.openxmlformats.org/officeDocument/2006/relationships" id="264" r:id="R44b81e2a644144c9"/>
    <p:sldId xmlns:r="http://schemas.openxmlformats.org/officeDocument/2006/relationships" id="265" r:id="Ra1bb64b04b494703"/>
    <p:sldId xmlns:r="http://schemas.openxmlformats.org/officeDocument/2006/relationships" id="266" r:id="R434b0c4dc1334d01"/>
    <p:sldId xmlns:r="http://schemas.openxmlformats.org/officeDocument/2006/relationships" id="267" r:id="Rb6289296fbde4dd6"/>
    <p:sldId xmlns:r="http://schemas.openxmlformats.org/officeDocument/2006/relationships" id="268" r:id="Rd189b22343cc4ed5"/>
    <p:sldId xmlns:r="http://schemas.openxmlformats.org/officeDocument/2006/relationships" id="269" r:id="R1993c36c52e946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26c168e657485a" /><Relationship Type="http://schemas.openxmlformats.org/officeDocument/2006/relationships/slideMaster" Target="/ppt/slideMasters/slideMaster1.xml" Id="R58376a44c174486a" /><Relationship Type="http://schemas.openxmlformats.org/officeDocument/2006/relationships/notesMaster" Target="/ppt/notesMasters/notesMaster1.xml" Id="Rf0549d59a32440da" /><Relationship Type="http://schemas.openxmlformats.org/officeDocument/2006/relationships/presProps" Target="/ppt/presProps.xml" Id="R10d38017ddf2483d" /><Relationship Type="http://schemas.openxmlformats.org/officeDocument/2006/relationships/tableStyles" Target="/ppt/tableStyles.xml" Id="Rd8587dbad7ae434a" /><Relationship Type="http://schemas.openxmlformats.org/officeDocument/2006/relationships/slide" Target="/ppt/slides/slide1.xml" Id="R330f04edc625476b" /><Relationship Type="http://schemas.openxmlformats.org/officeDocument/2006/relationships/slide" Target="/ppt/slides/slide2.xml" Id="R5c38f997cb8643f5" /><Relationship Type="http://schemas.openxmlformats.org/officeDocument/2006/relationships/slide" Target="/ppt/slides/slide3.xml" Id="R91a2d5ba83504874" /><Relationship Type="http://schemas.openxmlformats.org/officeDocument/2006/relationships/slide" Target="/ppt/slides/slide4.xml" Id="R662eb804c01f4c5b" /><Relationship Type="http://schemas.openxmlformats.org/officeDocument/2006/relationships/slide" Target="/ppt/slides/slide5.xml" Id="R564a1896113244df" /><Relationship Type="http://schemas.openxmlformats.org/officeDocument/2006/relationships/slide" Target="/ppt/slides/slide6.xml" Id="R2dfc0b6640764c32" /><Relationship Type="http://schemas.openxmlformats.org/officeDocument/2006/relationships/slide" Target="/ppt/slides/slide7.xml" Id="R4126bc810b57479e" /><Relationship Type="http://schemas.openxmlformats.org/officeDocument/2006/relationships/slide" Target="/ppt/slides/slide8.xml" Id="R1ebc4f659cac494c" /><Relationship Type="http://schemas.openxmlformats.org/officeDocument/2006/relationships/slide" Target="/ppt/slides/slide9.xml" Id="R44b81e2a644144c9" /><Relationship Type="http://schemas.openxmlformats.org/officeDocument/2006/relationships/slide" Target="/ppt/slides/slide10.xml" Id="Ra1bb64b04b494703" /><Relationship Type="http://schemas.openxmlformats.org/officeDocument/2006/relationships/slide" Target="/ppt/slides/slide11.xml" Id="R434b0c4dc1334d01" /><Relationship Type="http://schemas.openxmlformats.org/officeDocument/2006/relationships/slide" Target="/ppt/slides/slide12.xml" Id="Rb6289296fbde4dd6" /><Relationship Type="http://schemas.openxmlformats.org/officeDocument/2006/relationships/slide" Target="/ppt/slides/slide13.xml" Id="Rd189b22343cc4ed5" /><Relationship Type="http://schemas.openxmlformats.org/officeDocument/2006/relationships/slide" Target="/ppt/slides/slide14.xml" Id="R1993c36c52e946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b7a26df5ba46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157f16ed82414e" /><Relationship Type="http://schemas.openxmlformats.org/officeDocument/2006/relationships/notesMaster" Target="/ppt/notesMasters/notesMaster1.xml" Id="R9c808e2154f349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8cd8f844aa4a65" /><Relationship Type="http://schemas.openxmlformats.org/officeDocument/2006/relationships/notesMaster" Target="/ppt/notesMasters/notesMaster1.xml" Id="R20ea484097984f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7a6dc6a4044b61" /><Relationship Type="http://schemas.openxmlformats.org/officeDocument/2006/relationships/notesMaster" Target="/ppt/notesMasters/notesMaster1.xml" Id="R6b3632862e7c49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07b1ffde7e46ad" /><Relationship Type="http://schemas.openxmlformats.org/officeDocument/2006/relationships/notesMaster" Target="/ppt/notesMasters/notesMaster1.xml" Id="R193e990fe95643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4313182b284f6d" /><Relationship Type="http://schemas.openxmlformats.org/officeDocument/2006/relationships/notesMaster" Target="/ppt/notesMasters/notesMaster1.xml" Id="R98ebe2184fa744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c0f5a9bb8740ea" /><Relationship Type="http://schemas.openxmlformats.org/officeDocument/2006/relationships/notesMaster" Target="/ppt/notesMasters/notesMaster1.xml" Id="R2e791d6d1cdd4f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987903db924928" /><Relationship Type="http://schemas.openxmlformats.org/officeDocument/2006/relationships/notesMaster" Target="/ppt/notesMasters/notesMaster1.xml" Id="R91d337593f2149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a0f0e413e54cc6" /><Relationship Type="http://schemas.openxmlformats.org/officeDocument/2006/relationships/notesMaster" Target="/ppt/notesMasters/notesMaster1.xml" Id="Rd1eb39e7e4214a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70f921976741ca" /><Relationship Type="http://schemas.openxmlformats.org/officeDocument/2006/relationships/notesMaster" Target="/ppt/notesMasters/notesMaster1.xml" Id="R23ff6266ffc340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48a12603024f16" /><Relationship Type="http://schemas.openxmlformats.org/officeDocument/2006/relationships/notesMaster" Target="/ppt/notesMasters/notesMaster1.xml" Id="R97dc5837ce4e47e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a191a5b61245de" /><Relationship Type="http://schemas.openxmlformats.org/officeDocument/2006/relationships/notesMaster" Target="/ppt/notesMasters/notesMaster1.xml" Id="Rbc565e9ebd1341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132e4424e44681" /><Relationship Type="http://schemas.openxmlformats.org/officeDocument/2006/relationships/notesMaster" Target="/ppt/notesMasters/notesMaster1.xml" Id="R5d526ee282af484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a399780c97f47a5" /><Relationship Type="http://schemas.openxmlformats.org/officeDocument/2006/relationships/notesMaster" Target="/ppt/notesMasters/notesMaster1.xml" Id="R7ef3b2e123b6463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420b1ecdbec472e" /><Relationship Type="http://schemas.openxmlformats.org/officeDocument/2006/relationships/notesMaster" Target="/ppt/notesMasters/notesMaster1.xml" Id="Re05469f3ee4e40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setup: Replace bracketed text before teaching. Every text box is editable. Duplicate the slide for checked answers or a second prompt. Keep prompt and answer sides separate when printing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Activity: Brain dump</a:t>
            </a:r>
          </a:p>
          <a:p xmlns:a="http://schemas.openxmlformats.org/drawingml/2006/main">
            <a:r>
              <a:t>Materials: Paper or mini whiteboards</a:t>
            </a:r>
          </a:p>
          <a:p xmlns:a="http://schemas.openxmlformats.org/drawingml/2006/main">
            <a:r>
              <a:t>Suggested total time including feedback: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Set a boundary: Name a previously taught topic and close notes.</a:t>
            </a:r>
          </a:p>
          <a:p xmlns:a="http://schemas.openxmlformats.org/drawingml/2006/main">
            <a:r>
              <a:t>2. Recall independently: Everyone writes or sketches what they remember for two minutes.</a:t>
            </a:r>
          </a:p>
          <a:p xmlns:a="http://schemas.openxmlformats.org/drawingml/2006/main">
            <a:r>
              <a:t>3. Organise the recall: Group related ideas and mark uncertain details.</a:t>
            </a:r>
          </a:p>
          <a:p xmlns:a="http://schemas.openxmlformats.org/drawingml/2006/main">
            <a:r>
              <a:t>4. Check and improve: Compare with a trusted reference; correct errors in another colour.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Check: Sample explanations as well as keywords. Ask students to retrieve a corrected idea again later.</a:t>
            </a:r>
          </a:p>
          <a:p xmlns:a="http://schemas.openxmlformats.org/drawingml/2006/main">
            <a:r>
              <a:t>Adapt: Use broad headings if a blank page feels overwhelming; allow spoken recording or labelled sketches.</a:t>
            </a:r>
          </a:p>
          <a:p xmlns:a="http://schemas.openxmlformats.org/drawingml/2006/main">
            <a:r>
              <a:t>Credit: Pooja K. Agarwal — classroom guidance</a:t>
            </a:r>
          </a:p>
          <a:p xmlns:a="http://schemas.openxmlformats.org/drawingml/2006/main">
            <a:r>
              <a:t>Free recall is a longstanding research method. Credit here recognises Agarwal’s classroom explanation, rather than claiming she invented free recall.</a:t>
            </a:r>
          </a:p>
          <a:p xmlns:a="http://schemas.openxmlformats.org/drawingml/2006/main">
            <a:r>
              <a:t>Source: https://www.retrievalpractice.org/strategies/2017/free-recall</a:t>
            </a:r>
          </a:p>
          <a:p xmlns:a="http://schemas.openxmlformats.org/drawingml/2006/main">
            <a:r>
              <a:t>Full guide: https://tnt-teaching-tools.github.io/cold-call-classroom/retrieval-brain-dump.html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setup: Replace bracketed text before teaching. Every text box is editable. Duplicate the slide for checked answers or a second prompt. Keep prompt and answer sides separate when printing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Activity: Two things</a:t>
            </a:r>
          </a:p>
          <a:p xmlns:a="http://schemas.openxmlformats.org/drawingml/2006/main">
            <a:r>
              <a:t>Materials: Paper or mini whiteboards</a:t>
            </a:r>
          </a:p>
          <a:p xmlns:a="http://schemas.openxmlformats.org/drawingml/2006/main">
            <a:r>
              <a:t>Suggested total time including feedback: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Choose the focus: Identify a taught idea from an earlier lesson.</a:t>
            </a:r>
          </a:p>
          <a:p xmlns:a="http://schemas.openxmlformats.org/drawingml/2006/main">
            <a:r>
              <a:t>2. Recall two: Each student independently records two accurate details without notes.</a:t>
            </a:r>
          </a:p>
          <a:p xmlns:a="http://schemas.openxmlformats.org/drawingml/2006/main">
            <a:r>
              <a:t>3. Share one: Partners explain one detail each, without simply copying.</a:t>
            </a:r>
          </a:p>
          <a:p xmlns:a="http://schemas.openxmlformats.org/drawingml/2006/main">
            <a:r>
              <a:t>4. Verify: Sample responses, clarify errors and ask for a corrected statement.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Check: A question about what students want to learn is reflection, not retrieval. Ask for knowledge they have already encountered.</a:t>
            </a:r>
          </a:p>
          <a:p xmlns:a="http://schemas.openxmlformats.org/drawingml/2006/main">
            <a:r>
              <a:t>Adapt: Ask for two steps, two examples or two connections; give additional thinking time where needed.</a:t>
            </a:r>
          </a:p>
          <a:p xmlns:a="http://schemas.openxmlformats.org/drawingml/2006/main">
            <a:r>
              <a:t>Credit: Pooja K. Agarwal — named classroom strategy</a:t>
            </a:r>
          </a:p>
          <a:p xmlns:a="http://schemas.openxmlformats.org/drawingml/2006/main">
            <a:r>
              <a:t>Agarwal shares this strategy as “Two Things”. This guide adds a teacher check and a later revisit.</a:t>
            </a:r>
          </a:p>
          <a:p xmlns:a="http://schemas.openxmlformats.org/drawingml/2006/main">
            <a:r>
              <a:t>Source: https://www.retrievalpractice.org/strategies/2018/two-things</a:t>
            </a:r>
          </a:p>
          <a:p xmlns:a="http://schemas.openxmlformats.org/drawingml/2006/main">
            <a:r>
              <a:t>Full guide: https://tnt-teaching-tools.github.io/cold-call-classroom/retrieval-two-things.html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setup: Replace bracketed text before teaching. Every text box is editable. Duplicate the slide for checked answers or a second prompt. Keep prompt and answer sides separate when printing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Activity: Cops and robbers</a:t>
            </a:r>
          </a:p>
          <a:p xmlns:a="http://schemas.openxmlformats.org/drawingml/2006/main">
            <a:r>
              <a:t>Materials: Paper split into “My recall” and “From peers”</a:t>
            </a:r>
          </a:p>
          <a:p xmlns:a="http://schemas.openxmlformats.org/drawingml/2006/main">
            <a:r>
              <a:t>Suggested total time including feedback: 8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Recall alone: Write remembered knowledge in the first column, with notes closed.</a:t>
            </a:r>
          </a:p>
          <a:p xmlns:a="http://schemas.openxmlformats.org/drawingml/2006/main">
            <a:r>
              <a:t>2. Compare: Read a partner’s recall and identify something you missed.</a:t>
            </a:r>
          </a:p>
          <a:p xmlns:a="http://schemas.openxmlformats.org/drawingml/2006/main">
            <a:r>
              <a:t>3. Add separately: Put new ideas in the second column to distinguish your recall from borrowed knowledge.</a:t>
            </a:r>
          </a:p>
          <a:p xmlns:a="http://schemas.openxmlformats.org/drawingml/2006/main">
            <a:r>
              <a:t>4. Verify and retrieve: Check accuracy, then cover both columns and recall a new idea.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Check: Peer additions are feedback, not independent retrieval. Verify them before the final recall.</a:t>
            </a:r>
          </a:p>
          <a:p xmlns:a="http://schemas.openxmlformats.org/drawingml/2006/main">
            <a:r>
              <a:t>Adapt: Use fixed pairs instead of movement, and headings to support a narrower focus.</a:t>
            </a:r>
          </a:p>
          <a:p xmlns:a="http://schemas.openxmlformats.org/drawingml/2006/main">
            <a:r>
              <a:t>Credit: Kate Jones — published classroom resource</a:t>
            </a:r>
          </a:p>
          <a:p xmlns:a="http://schemas.openxmlformats.org/drawingml/2006/main">
            <a:r>
              <a:t>Jones describes this activity in her retrieval practice resources. This is a TNT classroom adaptation with seated sharing and teacher verification.</a:t>
            </a:r>
          </a:p>
          <a:p xmlns:a="http://schemas.openxmlformats.org/drawingml/2006/main">
            <a:r>
              <a:t>Source: https://tile.psy.gla.ac.uk/2019/12/03/tile-share-best-practice-retrieval-practice-research-and-resources-for-every-classroom-by-kate-jones/</a:t>
            </a:r>
          </a:p>
          <a:p xmlns:a="http://schemas.openxmlformats.org/drawingml/2006/main">
            <a:r>
              <a:t>Full guide: https://tnt-teaching-tools.github.io/cold-call-classroom/retrieval-cops-and-robbers.html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setup: Replace bracketed text before teaching. Every text box is editable. Duplicate the slide for checked answers or a second prompt. Keep prompt and answer sides separate when printing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Activity: Retrieval challenge grid</a:t>
            </a:r>
          </a:p>
          <a:p xmlns:a="http://schemas.openxmlformats.org/drawingml/2006/main">
            <a:r>
              <a:t>Materials: A small teacher-made grid and checked answers</a:t>
            </a:r>
          </a:p>
          <a:p xmlns:a="http://schemas.openxmlformats.org/drawingml/2006/main">
            <a:r>
              <a:t>Suggested total time including feedback: 8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Prepare the grid: Include prompts from last lesson, last week and earlier learning.</a:t>
            </a:r>
          </a:p>
          <a:p xmlns:a="http://schemas.openxmlformats.org/drawingml/2006/main">
            <a:r>
              <a:t>2. Choose coverage: Require at least one response from each time category.</a:t>
            </a:r>
          </a:p>
          <a:p xmlns:a="http://schemas.openxmlformats.org/drawingml/2006/main">
            <a:r>
              <a:t>3. Retrieve: Everyone answers independently before opening notes.</a:t>
            </a:r>
          </a:p>
          <a:p xmlns:a="http://schemas.openxmlformats.org/drawingml/2006/main">
            <a:r>
              <a:t>4. Check gaps: Review answers and correct missing or inaccurate knowledge.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Check: Age of content is not a reliable measure of difficulty. Points should never replace checking understanding.</a:t>
            </a:r>
          </a:p>
          <a:p xmlns:a="http://schemas.openxmlformats.org/drawingml/2006/main">
            <a:r>
              <a:t>Adapt: Use fewer cells or oral responses; label categories so colour is never the only cue.</a:t>
            </a:r>
          </a:p>
          <a:p xmlns:a="http://schemas.openxmlformats.org/drawingml/2006/main">
            <a:r>
              <a:t>Credit: Kate Jones — Retrieval Practice Challenge Grids</a:t>
            </a:r>
          </a:p>
          <a:p xmlns:a="http://schemas.openxmlformats.org/drawingml/2006/main">
            <a:r>
              <a:t>Jones links her challenge grid to content taught at different times. TNT uses time labels as well as colour and keeps points optional.</a:t>
            </a:r>
          </a:p>
          <a:p xmlns:a="http://schemas.openxmlformats.org/drawingml/2006/main">
            <a:r>
              <a:t>Source: https://tile.psy.gla.ac.uk/2019/12/03/tile-share-best-practice-retrieval-practice-research-and-resources-for-every-classroom-by-kate-jones/</a:t>
            </a:r>
          </a:p>
          <a:p xmlns:a="http://schemas.openxmlformats.org/drawingml/2006/main">
            <a:r>
              <a:t>Full guide: https://tnt-teaching-tools.github.io/cold-call-classroom/retrieval-challenge-grid.html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setup: Replace bracketed text before teaching. Every text box is editable. Duplicate the slide for checked answers or a second prompt. Keep prompt and answer sides separate when printing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Activity: Quiz–Quiz–Trade</a:t>
            </a:r>
          </a:p>
          <a:p xmlns:a="http://schemas.openxmlformats.org/drawingml/2006/main">
            <a:r>
              <a:t>Materials: Teacher-checked prompt cards with answers on the back</a:t>
            </a:r>
          </a:p>
          <a:p xmlns:a="http://schemas.openxmlformats.org/drawingml/2006/main">
            <a:r>
              <a:t>Suggested total time including feedback: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Pair up: Give each learner a checked card; pair students safely.</a:t>
            </a:r>
          </a:p>
          <a:p xmlns:a="http://schemas.openxmlformats.org/drawingml/2006/main">
            <a:r>
              <a:t>2. Quiz both ways: One partner asks; the other answers from memory. Then reverse roles.</a:t>
            </a:r>
          </a:p>
          <a:p xmlns:a="http://schemas.openxmlformats.org/drawingml/2006/main">
            <a:r>
              <a:t>3. Check together: Use the card answer to correct or extend each response.</a:t>
            </a:r>
          </a:p>
          <a:p xmlns:a="http://schemas.openxmlformats.org/drawingml/2006/main">
            <a:r>
              <a:t>4. Trade and repeat: Exchange cards and work with a new partner, or rotate seated partners.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Check: Keep the answer hidden until an attempt. Sample explanations to catch inaccurate peer coaching.</a:t>
            </a:r>
          </a:p>
          <a:p xmlns:a="http://schemas.openxmlformats.org/drawingml/2006/main">
            <a:r>
              <a:t>Adapt: Offer a seated rotation and read prompts aloud where helpful.</a:t>
            </a:r>
          </a:p>
          <a:p xmlns:a="http://schemas.openxmlformats.org/drawingml/2006/main">
            <a:r>
              <a:t>Credit: Kagan — cooperative learning structure</a:t>
            </a:r>
          </a:p>
          <a:p xmlns:a="http://schemas.openxmlformats.org/drawingml/2006/main">
            <a:r>
              <a:t>Quiz–Quiz–Trade is a Kagan structure. This is an independently written retrieval guide; no Kagan card sets or artwork are reproduced.</a:t>
            </a:r>
          </a:p>
          <a:p xmlns:a="http://schemas.openxmlformats.org/drawingml/2006/main">
            <a:r>
              <a:t>Source: https://www.kaganonline.com/catalog/look_whats_inside/BQQV_inside.php</a:t>
            </a:r>
          </a:p>
          <a:p xmlns:a="http://schemas.openxmlformats.org/drawingml/2006/main">
            <a:r>
              <a:t>Full guide: https://tnt-teaching-tools.github.io/cold-call-classroom/retrieval-quiz-quiz-trade.html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setup: Replace bracketed text before teaching. Every text box is editable. Duplicate the slide for checked answers or a second prompt. Keep prompt and answer sides separate when printing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Activity: Retrieval Roulette</a:t>
            </a:r>
          </a:p>
          <a:p xmlns:a="http://schemas.openxmlformats.org/drawingml/2006/main">
            <a:r>
              <a:t>Materials: Your own checked prompt bank or Boxer’s linked template</a:t>
            </a:r>
          </a:p>
          <a:p xmlns:a="http://schemas.openxmlformats.org/drawingml/2006/main">
            <a:r>
              <a:t>Suggested total time including feedback: 7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Build your bank: Use your own taught material and keep checked answers.</a:t>
            </a:r>
          </a:p>
          <a:p xmlns:a="http://schemas.openxmlformats.org/drawingml/2006/main">
            <a:r>
              <a:t>2. Choose the range: Limit selection to content already taught, including older learning.</a:t>
            </a:r>
          </a:p>
          <a:p xmlns:a="http://schemas.openxmlformats.org/drawingml/2006/main">
            <a:r>
              <a:t>3. Retrieve together: Display a short selection; everyone attempts before feedback.</a:t>
            </a:r>
          </a:p>
          <a:p xmlns:a="http://schemas.openxmlformats.org/drawingml/2006/main">
            <a:r>
              <a:t>4. Respond to gaps: Review answers, reteach a weak idea and revisit it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Check: Inspect the selected prompts before using them. This page explains the approach; it does not generate questions.</a:t>
            </a:r>
          </a:p>
          <a:p xmlns:a="http://schemas.openxmlformats.org/drawingml/2006/main">
            <a:r>
              <a:t>Adapt: Start with a small bank you can maintain; select a manageable number of prompts.</a:t>
            </a:r>
          </a:p>
          <a:p xmlns:a="http://schemas.openxmlformats.org/drawingml/2006/main">
            <a:r>
              <a:t>Credit: Adam Boxer — Retrieval Roulette</a:t>
            </a:r>
          </a:p>
          <a:p xmlns:a="http://schemas.openxmlformats.org/drawingml/2006/main">
            <a:r>
              <a:t>Boxer published Retrieval Roulette in 2017. His tool selects questions; the TNT activity wheel selects activity formats and is a separate feature.</a:t>
            </a:r>
          </a:p>
          <a:p xmlns:a="http://schemas.openxmlformats.org/drawingml/2006/main">
            <a:r>
              <a:t>Source: https://achemicalorthodoxy.co.uk/2017/05/04/the-retrieval-roulette/</a:t>
            </a:r>
          </a:p>
          <a:p xmlns:a="http://schemas.openxmlformats.org/drawingml/2006/main">
            <a:r>
              <a:t>Full guide: https://tnt-teaching-tools.github.io/cold-call-classroom/retrieval-retrieval-roulette.html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setup: Replace bracketed text before teaching. Every text box is editable. Duplicate the slide for checked answers or a second prompt. Keep prompt and answer sides separate when printing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Activity: Flashcard practice</a:t>
            </a:r>
          </a:p>
          <a:p xmlns:a="http://schemas.openxmlformats.org/drawingml/2006/main">
            <a:r>
              <a:t>Materials: Your own checked flashcards</a:t>
            </a:r>
          </a:p>
          <a:p xmlns:a="http://schemas.openxmlformats.org/drawingml/2006/main">
            <a:r>
              <a:t>Suggested total time including feedback: 6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Hide the answer: Put prompt sides up and shuffle the cards.</a:t>
            </a:r>
          </a:p>
          <a:p xmlns:a="http://schemas.openxmlformats.org/drawingml/2006/main">
            <a:r>
              <a:t>2. Commit an answer: Say or write your answer before turning a card over.</a:t>
            </a:r>
          </a:p>
          <a:p xmlns:a="http://schemas.openxmlformats.org/drawingml/2006/main">
            <a:r>
              <a:t>3. Check honestly: Compare meaning and detail, then correct the response.</a:t>
            </a:r>
          </a:p>
          <a:p xmlns:a="http://schemas.openxmlformats.org/drawingml/2006/main">
            <a:r>
              <a:t>4. Return later: Keep practising across sessions, including previously correct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Check: Recognising an answer after flipping is different from retrieving it. Avoid racing for the highest card count.</a:t>
            </a:r>
          </a:p>
          <a:p xmlns:a="http://schemas.openxmlformats.org/drawingml/2006/main">
            <a:r>
              <a:t>Adapt: Use paired checking, audio prompts or larger print.</a:t>
            </a:r>
          </a:p>
          <a:p xmlns:a="http://schemas.openxmlformats.org/drawingml/2006/main">
            <a:r>
              <a:t>Credit: Pooja K. Agarwal — flashcard guidance</a:t>
            </a:r>
          </a:p>
          <a:p xmlns:a="http://schemas.openxmlformats.org/drawingml/2006/main">
            <a:r>
              <a:t>Flashcards are a shared study method. Agarwal is credited for the linked retrieval guidance; the short classroom format is a TNT adaptation.</a:t>
            </a:r>
          </a:p>
          <a:p xmlns:a="http://schemas.openxmlformats.org/drawingml/2006/main">
            <a:r>
              <a:t>Source: https://www.retrievalpractice.org/strategies/2019/11/18/flashcards</a:t>
            </a:r>
          </a:p>
          <a:p xmlns:a="http://schemas.openxmlformats.org/drawingml/2006/main">
            <a:r>
              <a:t>Full guide: https://tnt-teaching-tools.github.io/cold-call-classroom/retrieval-flashcard-sprint.html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setup: Replace bracketed text before teaching. Every text box is editable. Duplicate the slide for checked answers or a second prompt. Keep prompt and answer sides separate when printing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Activity: Whiteboard recall</a:t>
            </a:r>
          </a:p>
          <a:p xmlns:a="http://schemas.openxmlformats.org/drawingml/2006/main">
            <a:r>
              <a:t>Materials: Mini whiteboards, pens and your own prompts</a:t>
            </a:r>
          </a:p>
          <a:p xmlns:a="http://schemas.openxmlformats.org/drawingml/2006/main">
            <a:r>
              <a:t>Suggested total time including feedback: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Give a cue: Pose a prompt about previously taught knowledge.</a:t>
            </a:r>
          </a:p>
          <a:p xmlns:a="http://schemas.openxmlformats.org/drawingml/2006/main">
            <a:r>
              <a:t>2. Think and write: Allow independent thinking; everyone commits an answer.</a:t>
            </a:r>
          </a:p>
          <a:p xmlns:a="http://schemas.openxmlformats.org/drawingml/2006/main">
            <a:r>
              <a:t>3. Reveal together: Keep boards hidden until your signal, then scan the whole room.</a:t>
            </a:r>
          </a:p>
          <a:p xmlns:a="http://schemas.openxmlformats.org/drawingml/2006/main">
            <a:r>
              <a:t>4. Correct and recheck: Explain a common gap; students improve and answer a short follow-up.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Check: Sample across the room, not only the quickest responders. Avoid revealing another student’s board before everyone attempts.</a:t>
            </a:r>
          </a:p>
          <a:p xmlns:a="http://schemas.openxmlformats.org/drawingml/2006/main">
            <a:r>
              <a:t>Adapt: Accept diagrams or short phrases and adjust thinking time.</a:t>
            </a:r>
          </a:p>
          <a:p xmlns:a="http://schemas.openxmlformats.org/drawingml/2006/main">
            <a:r>
              <a:t>Credit: Janell R. Blunt — linked classroom guidance</a:t>
            </a:r>
          </a:p>
          <a:p xmlns:a="http://schemas.openxmlformats.org/drawingml/2006/main">
            <a:r>
              <a:t>Mini whiteboards are a shared classroom tool. Blunt is credited for the linked retrieval guidance, not as the inventor of whiteboards.</a:t>
            </a:r>
          </a:p>
          <a:p xmlns:a="http://schemas.openxmlformats.org/drawingml/2006/main">
            <a:r>
              <a:t>Source: https://www.retrievalpractice.org/strategies/white-boards</a:t>
            </a:r>
          </a:p>
          <a:p xmlns:a="http://schemas.openxmlformats.org/drawingml/2006/main">
            <a:r>
              <a:t>Full guide: https://tnt-teaching-tools.github.io/cold-call-classroom/retrieval-whiteboard-recall.html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setup: Replace bracketed text before teaching. Every text box is editable. Duplicate the slide for checked answers or a second prompt. Keep prompt and answer sides separate when printing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Activity: Concept map from memory</a:t>
            </a:r>
          </a:p>
          <a:p xmlns:a="http://schemas.openxmlformats.org/drawingml/2006/main">
            <a:r>
              <a:t>Materials: Blank paper</a:t>
            </a:r>
          </a:p>
          <a:p xmlns:a="http://schemas.openxmlformats.org/drawingml/2006/main">
            <a:r>
              <a:t>Suggested total time including feedback: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Start centrally: Write one previously taught topic in the middle of a page.</a:t>
            </a:r>
          </a:p>
          <a:p xmlns:a="http://schemas.openxmlformats.org/drawingml/2006/main">
            <a:r>
              <a:t>2. Recall concepts: Add remembered ideas without consulting a source.</a:t>
            </a:r>
          </a:p>
          <a:p xmlns:a="http://schemas.openxmlformats.org/drawingml/2006/main">
            <a:r>
              <a:t>3. Explain links: Connect ideas with phrases explaining their relationship.</a:t>
            </a:r>
          </a:p>
          <a:p xmlns:a="http://schemas.openxmlformats.org/drawingml/2006/main">
            <a:r>
              <a:t>4. Check the structure: Verify facts and links; redraw a small corrected section from memory.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Check: A map copied from notes is a different task. Check the linking phrases, not artistic presentation.</a:t>
            </a:r>
          </a:p>
          <a:p xmlns:a="http://schemas.openxmlformats.org/drawingml/2006/main">
            <a:r>
              <a:t>Adapt: Provide a few category headings without supplying all the facts.</a:t>
            </a:r>
          </a:p>
          <a:p xmlns:a="http://schemas.openxmlformats.org/drawingml/2006/main">
            <a:r>
              <a:t>Credit: Shared concept-mapping method; TNT retrieval adaptation</a:t>
            </a:r>
          </a:p>
          <a:p xmlns:a="http://schemas.openxmlformats.org/drawingml/2006/main">
            <a:r>
              <a:t>No sole creator is claimed for this memory-first classroom variant. Karpicke and Blunt (2011) provide related research on retrieval and concept mapping, not proof that every map format is superior.</a:t>
            </a:r>
          </a:p>
          <a:p xmlns:a="http://schemas.openxmlformats.org/drawingml/2006/main">
            <a:r>
              <a:t>Source: https://doi.org/10.1126/science.1199327</a:t>
            </a:r>
          </a:p>
          <a:p xmlns:a="http://schemas.openxmlformats.org/drawingml/2006/main">
            <a:r>
              <a:t>Full guide: https://tnt-teaching-tools.github.io/cold-call-classroom/retrieval-concept-map.html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setup: Replace bracketed text before teaching. Every text box is editable. Duplicate the slide for checked answers or a second prompt. Keep prompt and answer sides separate when printing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Activity: Picture prompts</a:t>
            </a:r>
          </a:p>
          <a:p xmlns:a="http://schemas.openxmlformats.org/drawingml/2006/main">
            <a:r>
              <a:t>Materials: A relevant image with answer labels hidden</a:t>
            </a:r>
          </a:p>
          <a:p xmlns:a="http://schemas.openxmlformats.org/drawingml/2006/main">
            <a:r>
              <a:t>Suggested total time including feedback: 6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Choose the image: Use a diagram or photograph connected to taught material; hide answer labels.</a:t>
            </a:r>
          </a:p>
          <a:p xmlns:a="http://schemas.openxmlformats.org/drawingml/2006/main">
            <a:r>
              <a:t>2. Recall details: Students write remembered labels, steps or explanations independently.</a:t>
            </a:r>
          </a:p>
          <a:p xmlns:a="http://schemas.openxmlformats.org/drawingml/2006/main">
            <a:r>
              <a:t>3. Explain connections: Ask learners to connect the visual to the taught ideas.</a:t>
            </a:r>
          </a:p>
          <a:p xmlns:a="http://schemas.openxmlformats.org/drawingml/2006/main">
            <a:r>
              <a:t>4. Reveal and check: Show a checked explanation and correct mistakes.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Check: An image containing all the answers can turn the task into copying. Keep the initial cue useful without revealing the target knowledge.</a:t>
            </a:r>
          </a:p>
          <a:p xmlns:a="http://schemas.openxmlformats.org/drawingml/2006/main">
            <a:r>
              <a:t>Adapt: Provide a verbal description or accessible alternative to the image.</a:t>
            </a:r>
          </a:p>
          <a:p xmlns:a="http://schemas.openxmlformats.org/drawingml/2006/main">
            <a:r>
              <a:t>Credit: Shared visual-cue method; TNT classroom adaptation</a:t>
            </a:r>
          </a:p>
          <a:p xmlns:a="http://schemas.openxmlformats.org/drawingml/2006/main">
            <a:r>
              <a:t>No single originator is verified for this broad routine. The link supports retrieval principles rather than establishing ownership of picture prompts.</a:t>
            </a:r>
          </a:p>
          <a:p xmlns:a="http://schemas.openxmlformats.org/drawingml/2006/main">
            <a:r>
              <a:t>Source: https://pdf.retrievalpractice.org/RetrievalPracticeGuide.pdf</a:t>
            </a:r>
          </a:p>
          <a:p xmlns:a="http://schemas.openxmlformats.org/drawingml/2006/main">
            <a:r>
              <a:t>Full guide: https://tnt-teaching-tools.github.io/cold-call-classroom/retrieval-picture-prompts.html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setup: Replace bracketed text before teaching. Every text box is editable. Duplicate the slide for checked answers or a second prompt. Keep prompt and answer sides separate when printing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Activity: List it</a:t>
            </a:r>
          </a:p>
          <a:p xmlns:a="http://schemas.openxmlformats.org/drawingml/2006/main">
            <a:r>
              <a:t>Materials: Paper or mini whiteboards</a:t>
            </a:r>
          </a:p>
          <a:p xmlns:a="http://schemas.openxmlformats.org/drawingml/2006/main">
            <a:r>
              <a:t>Suggested total time including feedback: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Name a category: Choose a bounded category from previously taught content.</a:t>
            </a:r>
          </a:p>
          <a:p xmlns:a="http://schemas.openxmlformats.org/drawingml/2006/main">
            <a:r>
              <a:t>2. Recall a short list: Everyone records remembered examples without notes.</a:t>
            </a:r>
          </a:p>
          <a:p xmlns:a="http://schemas.openxmlformats.org/drawingml/2006/main">
            <a:r>
              <a:t>3. Add the reasoning: Ask students to explain why one item belongs in the category.</a:t>
            </a:r>
          </a:p>
          <a:p xmlns:a="http://schemas.openxmlformats.org/drawingml/2006/main">
            <a:r>
              <a:t>4. Check the set: Verify each item and correct false inclusions.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Check: A longer list is not necessarily better understanding. Check accuracy and explanations.</a:t>
            </a:r>
          </a:p>
          <a:p xmlns:a="http://schemas.openxmlformats.org/drawingml/2006/main">
            <a:r>
              <a:t>Adapt: Set an achievable list length and offer narrower category cues.</a:t>
            </a:r>
          </a:p>
          <a:p xmlns:a="http://schemas.openxmlformats.org/drawingml/2006/main">
            <a:r>
              <a:t>Credit: Shared focused-recall routine; TNT classroom adaptation</a:t>
            </a:r>
          </a:p>
          <a:p xmlns:a="http://schemas.openxmlformats.org/drawingml/2006/main">
            <a:r>
              <a:t>No sole inventor is verified for this generic format. Its design follows cued-recall principles; it is not presented as a named researcher’s invention.</a:t>
            </a:r>
          </a:p>
          <a:p xmlns:a="http://schemas.openxmlformats.org/drawingml/2006/main">
            <a:r>
              <a:t>Source: https://pdf.retrievalpractice.org/RetrievalPracticeGuide.pdf</a:t>
            </a:r>
          </a:p>
          <a:p xmlns:a="http://schemas.openxmlformats.org/drawingml/2006/main">
            <a:r>
              <a:t>Full guide: https://tnt-teaching-tools.github.io/cold-call-classroom/retrieval-list-it.html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setup: Replace bracketed text before teaching. Every text box is editable. Duplicate the slide for checked answers or a second prompt. Keep prompt and answer sides separate when printing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Activity: Retrieval placemat</a:t>
            </a:r>
          </a:p>
          <a:p xmlns:a="http://schemas.openxmlformats.org/drawingml/2006/main">
            <a:r>
              <a:t>Materials: Paper divided into individual spaces and a centre</a:t>
            </a:r>
          </a:p>
          <a:p xmlns:a="http://schemas.openxmlformats.org/drawingml/2006/main">
            <a:r>
              <a:t>Suggested total time including feedback: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Divide the page: Allocate a separate writing area to every group member.</a:t>
            </a:r>
          </a:p>
          <a:p xmlns:a="http://schemas.openxmlformats.org/drawingml/2006/main">
            <a:r>
              <a:t>2. Recall alone: Everyone writes independently without notes or discussion.</a:t>
            </a:r>
          </a:p>
          <a:p xmlns:a="http://schemas.openxmlformats.org/drawingml/2006/main">
            <a:r>
              <a:t>3. Compare ideas: Take turns explaining recall, and put agreed ideas in the centre.</a:t>
            </a:r>
          </a:p>
          <a:p xmlns:a="http://schemas.openxmlformats.org/drawingml/2006/main">
            <a:r>
              <a:t>4. Check and retry: Verify the shared response; each learner recalls a corrected idea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Check: A group answer can hide individual gaps. Keep each learner’s initial response visible.</a:t>
            </a:r>
          </a:p>
          <a:p xmlns:a="http://schemas.openxmlformats.org/drawingml/2006/main">
            <a:r>
              <a:t>Adapt: Use pairs or separate sheets if shared paper is awkward; assign speaking turns.</a:t>
            </a:r>
          </a:p>
          <a:p xmlns:a="http://schemas.openxmlformats.org/drawingml/2006/main">
            <a:r>
              <a:t>Credit: Shared placemat structure; TNT retrieval adaptation</a:t>
            </a:r>
          </a:p>
          <a:p xmlns:a="http://schemas.openxmlformats.org/drawingml/2006/main">
            <a:r>
              <a:t>Placemat is a widely used cooperative structure. No sole originator is verified here; this guide adds an individual memory-first stage.</a:t>
            </a:r>
          </a:p>
          <a:p xmlns:a="http://schemas.openxmlformats.org/drawingml/2006/main">
            <a:r>
              <a:t>Source: https://pdf.retrievalpractice.org/RetrievalPracticeGuide.pdf</a:t>
            </a:r>
          </a:p>
          <a:p xmlns:a="http://schemas.openxmlformats.org/drawingml/2006/main">
            <a:r>
              <a:t>Full guide: https://tnt-teaching-tools.github.io/cold-call-classroom/retrieval-retrieval-placemat.html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setup: Replace bracketed text before teaching. Every text box is editable. Duplicate the slide for checked answers or a second prompt. Keep prompt and answer sides separate when printing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Activity: Roll and retrieve</a:t>
            </a:r>
          </a:p>
          <a:p xmlns:a="http://schemas.openxmlformats.org/drawingml/2006/main">
            <a:r>
              <a:t>Materials: A die, six of your own prompts and checked answers</a:t>
            </a:r>
          </a:p>
          <a:p xmlns:a="http://schemas.openxmlformats.org/drawingml/2006/main">
            <a:r>
              <a:t>Suggested total time including feedback: 8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Prepare six slots: Assign one taught focus or prompt to each die number.</a:t>
            </a:r>
          </a:p>
          <a:p xmlns:a="http://schemas.openxmlformats.org/drawingml/2006/main">
            <a:r>
              <a:t>2. Roll a number: Use a physical die to select a slot.</a:t>
            </a:r>
          </a:p>
          <a:p xmlns:a="http://schemas.openxmlformats.org/drawingml/2006/main">
            <a:r>
              <a:t>3. Everyone retrieves: All group members attempt before discussing answers.</a:t>
            </a:r>
          </a:p>
          <a:p xmlns:a="http://schemas.openxmlformats.org/drawingml/2006/main">
            <a:r>
              <a:t>4. Check and cover gaps: Verify responses and deliberately revisit unselected slots.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Check: Chance does not guarantee coverage. Do not let one confident student answer for everyone.</a:t>
            </a:r>
          </a:p>
          <a:p xmlns:a="http://schemas.openxmlformats.org/drawingml/2006/main">
            <a:r>
              <a:t>Adapt: Use a fixed sequence when randomness leaves gaps, and avoid rewarding speed.</a:t>
            </a:r>
          </a:p>
          <a:p xmlns:a="http://schemas.openxmlformats.org/drawingml/2006/main">
            <a:r>
              <a:t>Credit: Shared dice-selection format; TNT classroom adaptation</a:t>
            </a:r>
          </a:p>
          <a:p xmlns:a="http://schemas.openxmlformats.org/drawingml/2006/main">
            <a:r>
              <a:t>No sole creator is verified for this generic dice format. Random selection changes the format; learning depends on retrieval and feedback.</a:t>
            </a:r>
          </a:p>
          <a:p xmlns:a="http://schemas.openxmlformats.org/drawingml/2006/main">
            <a:r>
              <a:t>Source: https://pdf.retrievalpractice.org/RetrievalPracticeGuide.pdf</a:t>
            </a:r>
          </a:p>
          <a:p xmlns:a="http://schemas.openxmlformats.org/drawingml/2006/main">
            <a:r>
              <a:t>Full guide: https://tnt-teaching-tools.github.io/cold-call-classroom/retrieval-roll-and-retrieve.html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setup: Replace bracketed text before teaching. Every text box is editable. Duplicate the slide for checked answers or a second prompt. Keep prompt and answer sides separate when printing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Activity: Retrieval clock</a:t>
            </a:r>
          </a:p>
          <a:p xmlns:a="http://schemas.openxmlformats.org/drawingml/2006/main">
            <a:r>
              <a:t>Materials: Paper with a clock divided into labelled topic sections</a:t>
            </a:r>
          </a:p>
          <a:p xmlns:a="http://schemas.openxmlformats.org/drawingml/2006/main">
            <a:r>
              <a:t>Suggested total time including feedback: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Label the sections: Choose four to six taught subtopics and give each a clock section.</a:t>
            </a:r>
          </a:p>
          <a:p xmlns:a="http://schemas.openxmlformats.org/drawingml/2006/main">
            <a:r>
              <a:t>2. Recall independently: Write relevant knowledge in each section, with notes closed.</a:t>
            </a:r>
          </a:p>
          <a:p xmlns:a="http://schemas.openxmlformats.org/drawingml/2006/main">
            <a:r>
              <a:t>3. Find a connection: Explain a link between ideas in two different sections.</a:t>
            </a:r>
          </a:p>
          <a:p xmlns:a="http://schemas.openxmlformats.org/drawingml/2006/main">
            <a:r>
              <a:t>4. Check and revisit: Correct errors; later retrieve a weak section without looking.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Check: The clock is an organiser, not a race. Avoid twelve rushed sections that leave no time for correction.</a:t>
            </a:r>
          </a:p>
          <a:p xmlns:a="http://schemas.openxmlformats.org/drawingml/2006/main">
            <a:r>
              <a:t>Adapt: Use fewer sections, larger paper or a simple rectangular grid.</a:t>
            </a:r>
          </a:p>
          <a:p xmlns:a="http://schemas.openxmlformats.org/drawingml/2006/main">
            <a:r>
              <a:t>Credit: Shared clock organiser; TNT retrieval adaptation</a:t>
            </a:r>
          </a:p>
          <a:p xmlns:a="http://schemas.openxmlformats.org/drawingml/2006/main">
            <a:r>
              <a:t>No verified sole originator is claimed for this visual organiser. The labels and timings here are TNT guidance, not a research-tested clock protocol.</a:t>
            </a:r>
          </a:p>
          <a:p xmlns:a="http://schemas.openxmlformats.org/drawingml/2006/main">
            <a:r>
              <a:t>Source: https://pdf.retrievalpractice.org/RetrievalPracticeGuide.pdf</a:t>
            </a:r>
          </a:p>
          <a:p xmlns:a="http://schemas.openxmlformats.org/drawingml/2006/main">
            <a:r>
              <a:t>Full guide: https://tnt-teaching-tools.github.io/cold-call-classroom/retrieval-retrieval-clock.html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1a1c8b9fe343c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dd988cd15649c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478563b6254a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f433e4e7b1483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165f2cf6b94b9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1131dd582e40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F6BD36E-E992-46D6-AF8F-73AD5716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3F7F3D-CA8A-4476-BD8D-BC598454B0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D54D289-DF48-4879-B1A1-EF7B2DA317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6D8A353-69F1-4FEC-8B02-0F7DA0EB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5FCCE8D-C356-43C0-A401-1F0C5C5354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DC9A7A0-72C9-4235-AFDA-CBE71CE3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4DFA2A8-EAFE-4DBE-8BD1-2977137FA0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0D7D8D95-23DA-49B4-9082-8EEAC64307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99E7A79-C40E-4067-B879-A8D6A5CD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16AC9E0-3A4E-4EC7-A1F0-512FE0E8A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8C83D9-0903-495A-9E5B-D67006BA17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AB7B30E-822D-405A-BAD9-C35F14CDCDE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CDD60BF-7AC6-4EB7-895D-57B0E7BD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D2200CE-84D9-4C81-A039-810CA81D68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B0210E-5FBF-40A0-9682-D23F156E91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b4a7b8a65f4c5e" /><Relationship Type="http://schemas.openxmlformats.org/officeDocument/2006/relationships/slideLayout" Target="/ppt/slideLayouts/slideLayout1.xml" Id="R4e8976b17e7c4977" /><Relationship Type="http://schemas.openxmlformats.org/officeDocument/2006/relationships/slideLayout" Target="/ppt/slideLayouts/slideLayout2.xml" Id="Re8ac305b5c10435f" /><Relationship Type="http://schemas.openxmlformats.org/officeDocument/2006/relationships/slideLayout" Target="/ppt/slideLayouts/slideLayout3.xml" Id="Rc98ff33c587a463f" /><Relationship Type="http://schemas.openxmlformats.org/officeDocument/2006/relationships/slideLayout" Target="/ppt/slideLayouts/slideLayout4.xml" Id="R31af222577ab4333" /><Relationship Type="http://schemas.openxmlformats.org/officeDocument/2006/relationships/slideLayout" Target="/ppt/slideLayouts/slideLayout5.xml" Id="R15c1c57c46f24e81" /><Relationship Type="http://schemas.openxmlformats.org/officeDocument/2006/relationships/slideLayout" Target="/ppt/slideLayouts/slideLayout6.xml" Id="R8e6fc0ddc14f4a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8976b17e7c4977"/>
    <p:sldLayoutId xmlns:r="http://schemas.openxmlformats.org/officeDocument/2006/relationships" id="2147483650" r:id="Re8ac305b5c10435f"/>
    <p:sldLayoutId xmlns:r="http://schemas.openxmlformats.org/officeDocument/2006/relationships" id="2147483651" r:id="Rc98ff33c587a463f"/>
    <p:sldLayoutId xmlns:r="http://schemas.openxmlformats.org/officeDocument/2006/relationships" id="2147483652" r:id="R31af222577ab4333"/>
    <p:sldLayoutId xmlns:r="http://schemas.openxmlformats.org/officeDocument/2006/relationships" id="2147483653" r:id="R15c1c57c46f24e81"/>
    <p:sldLayoutId xmlns:r="http://schemas.openxmlformats.org/officeDocument/2006/relationships" id="2147483654" r:id="R8e6fc0ddc14f4a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52d0fc04ae46b1" /><Relationship Type="http://schemas.openxmlformats.org/officeDocument/2006/relationships/notesSlide" Target="/ppt/notesSlides/notesSlide1.xml" Id="R62d87b680c804f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17f605497f4c8f" /><Relationship Type="http://schemas.openxmlformats.org/officeDocument/2006/relationships/notesSlide" Target="/ppt/notesSlides/notesSlide2.xml" Id="R4fb039748b8e43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ce67a4f71e408d" /><Relationship Type="http://schemas.openxmlformats.org/officeDocument/2006/relationships/notesSlide" Target="/ppt/notesSlides/notesSlide3.xml" Id="Rc9ac96e72e7242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fd3031152e405d" /><Relationship Type="http://schemas.openxmlformats.org/officeDocument/2006/relationships/notesSlide" Target="/ppt/notesSlides/notesSlide4.xml" Id="R2024a77edf8241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a72068d51f44ee" /><Relationship Type="http://schemas.openxmlformats.org/officeDocument/2006/relationships/notesSlide" Target="/ppt/notesSlides/notesSlide5.xml" Id="Rd2262deed34a48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b8391c82344165" /><Relationship Type="http://schemas.openxmlformats.org/officeDocument/2006/relationships/notesSlide" Target="/ppt/notesSlides/notesSlide6.xml" Id="R900ee43656db46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559a05d7824cc9" /><Relationship Type="http://schemas.openxmlformats.org/officeDocument/2006/relationships/notesSlide" Target="/ppt/notesSlides/notesSlide7.xml" Id="R77d6d1234ccd42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284fd5b1c341b1" /><Relationship Type="http://schemas.openxmlformats.org/officeDocument/2006/relationships/notesSlide" Target="/ppt/notesSlides/notesSlide8.xml" Id="R141aa322f76242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75618b0773440c" /><Relationship Type="http://schemas.openxmlformats.org/officeDocument/2006/relationships/notesSlide" Target="/ppt/notesSlides/notesSlide9.xml" Id="R8f876eaf5ec343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cb6e2970b94b67" /><Relationship Type="http://schemas.openxmlformats.org/officeDocument/2006/relationships/notesSlide" Target="/ppt/notesSlides/notesSlide10.xml" Id="R6a389bfad3f74e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2c499dac074c8c" /><Relationship Type="http://schemas.openxmlformats.org/officeDocument/2006/relationships/notesSlide" Target="/ppt/notesSlides/notesSlide11.xml" Id="R5bc93e4ea25e4a2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78e083b4fd490b" /><Relationship Type="http://schemas.openxmlformats.org/officeDocument/2006/relationships/notesSlide" Target="/ppt/notesSlides/notesSlide12.xml" Id="R7fd95258dabb4a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000d377e87467d" /><Relationship Type="http://schemas.openxmlformats.org/officeDocument/2006/relationships/notesSlide" Target="/ppt/notesSlides/notesSlide13.xml" Id="R8f086bc032e84b3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b4cb4fcf294b32" /><Relationship Type="http://schemas.openxmlformats.org/officeDocument/2006/relationships/notesSlide" Target="/ppt/notesSlides/notesSlide14.xml" Id="Rc22cdce3feb74e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98014-B0FD-4F53-8B99-6E9A48CE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42720"/>
                </a:solidFill>
                <a:latin typeface="Arial"/>
                <a:ea typeface="Arial"/>
                <a:cs typeface="Arial"/>
              </a:rPr>
              <a:t>Brain dump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9C0A0-82DE-4BA4-979C-9AFEE47E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2720"/>
                </a:solidFill>
                <a:latin typeface="Arial"/>
                <a:ea typeface="Arial"/>
                <a:cs typeface="Arial"/>
              </a:rPr>
              <a:t>[Add your topic or retrieval focus]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9125E-8D13-4F1A-9099-C92AF071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Recall independently first. Check and improve after feedback.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6CACC-B7C8-434F-A38C-B00840D0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972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2720"/>
                </a:solidFill>
                <a:latin typeface="Arial"/>
                <a:ea typeface="Arial"/>
                <a:cs typeface="Arial"/>
              </a:rPr>
              <a:t>[Add your recall focus or headings]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19B62-A620-4383-8107-EE1F1635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2720"/>
                </a:solidFill>
                <a:latin typeface="Arial"/>
                <a:ea typeface="Arial"/>
                <a:cs typeface="Arial"/>
              </a:rPr>
              <a:t>Write or sketch what you remember without notes.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49056F-F581-423B-A590-23C699F9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Time: [Add minutes]     Check: [Add your feedback routine]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D9A32-9472-4CCC-AA46-1EA52C7F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7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75C"/>
                </a:solidFill>
                <a:latin typeface="Arial"/>
                <a:ea typeface="Arial"/>
                <a:cs typeface="Arial"/>
              </a:rPr>
              <a:t>TNT Teaching Tools   Editable classroom template   Source and teacher guidance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14180190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317A1-B65E-44AA-AD40-F3C9F6E6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42720"/>
                </a:solidFill>
                <a:latin typeface="Arial"/>
                <a:ea typeface="Arial"/>
                <a:cs typeface="Arial"/>
              </a:rPr>
              <a:t>Two things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EA1D1-D7CF-4C2D-BAD9-79172B6A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2720"/>
                </a:solidFill>
                <a:latin typeface="Arial"/>
                <a:ea typeface="Arial"/>
                <a:cs typeface="Arial"/>
              </a:rPr>
              <a:t>[Add your topic or retrieval focus]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02939-7DB2-4AFD-B5A5-8870C6E6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Recall independently first. Check and improve after feedback.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B038F-08EF-43EB-99AC-6681CAF4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4006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First thing</a:t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[Add a focus]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2EA11-97EA-4808-9F22-6D63BD08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90750"/>
            <a:ext cx="54006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Second thing</a:t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[Add a focus]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360B7-1FAB-4B11-B94D-6707250D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Time: [Add minutes]     Check: [Add your feedback routine]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07EAF-6677-461C-A70E-80D944B9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7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75C"/>
                </a:solidFill>
                <a:latin typeface="Arial"/>
                <a:ea typeface="Arial"/>
                <a:cs typeface="Arial"/>
              </a:rPr>
              <a:t>TNT Teaching Tools   Editable classroom template   Source and teacher guidance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11142908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1438BD-ACFA-4DF6-8913-21C3D753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42720"/>
                </a:solidFill>
                <a:latin typeface="Arial"/>
                <a:ea typeface="Arial"/>
                <a:cs typeface="Arial"/>
              </a:rPr>
              <a:t>Cops and robbers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9EFDE1-DE77-4100-92B6-D31E736D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2720"/>
                </a:solidFill>
                <a:latin typeface="Arial"/>
                <a:ea typeface="Arial"/>
                <a:cs typeface="Arial"/>
              </a:rPr>
              <a:t>[Add your topic or retrieval focus]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59DB9-F1A7-4435-BA70-71C2442F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Recall independently first. Check and improve after feedback.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631F7-689E-40D4-9314-BBCC7BDA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4006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My recall</a:t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[Add the independent recall focus]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D57D7-5036-4A50-B4EB-0CC696F1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90750"/>
            <a:ext cx="54006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From peers</a:t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[Add the sharing instructions]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5AFDE-731D-43EF-A07F-C993FE66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Time: [Add minutes]     Check: [Add your feedback routine]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3F83E-E1F6-4F35-9558-D8BD34D7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7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75C"/>
                </a:solidFill>
                <a:latin typeface="Arial"/>
                <a:ea typeface="Arial"/>
                <a:cs typeface="Arial"/>
              </a:rPr>
              <a:t>TNT Teaching Tools   Editable classroom template   Source and teacher guidance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6058558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E51E4-2041-4516-A6E2-744AEDC6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42720"/>
                </a:solidFill>
                <a:latin typeface="Arial"/>
                <a:ea typeface="Arial"/>
                <a:cs typeface="Arial"/>
              </a:rPr>
              <a:t>Retrieval challenge grid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C458B-BA95-41DD-848E-13AE0DDD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2720"/>
                </a:solidFill>
                <a:latin typeface="Arial"/>
                <a:ea typeface="Arial"/>
                <a:cs typeface="Arial"/>
              </a:rPr>
              <a:t>[Add your topic or retrieval focus]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8AFBA-5B4D-490A-B130-A16BF69B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Recall independently first. Check and improve after feedback.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94451-FF67-49F7-BB7C-AF4D76CC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543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Last lesson</a:t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[Add a prompt]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2381A-CEC5-4E66-85E6-3D93D5A7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543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Last week</a:t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[Add a prompt]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55775-D841-43F3-A2F3-5C2DE37B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3543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Earlier learning</a:t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[Add a prompt]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7265B-10EB-49A4-9828-AF2D6711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3543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Last lesson</a:t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[Add a prompt]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41A0F-7257-4889-B463-82DF7282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43350"/>
            <a:ext cx="3543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Last week</a:t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[Add a prompt]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E51A7-012C-4BAF-BB03-B4CC05F8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43350"/>
            <a:ext cx="3543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Earlier learning</a:t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[Add a prompt]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FC03B-4B43-45B8-AEB8-ABAA61E7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Time: [Add minutes]     Check: [Add your feedback routine]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29A58D-6AAA-4FFB-BF45-7B600630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7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75C"/>
                </a:solidFill>
                <a:latin typeface="Arial"/>
                <a:ea typeface="Arial"/>
                <a:cs typeface="Arial"/>
              </a:rPr>
              <a:t>TNT Teaching Tools   Editable classroom template   Source and teacher guidance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8731572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A185F-2FCF-4A29-8E48-15A24818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42720"/>
                </a:solidFill>
                <a:latin typeface="Arial"/>
                <a:ea typeface="Arial"/>
                <a:cs typeface="Arial"/>
              </a:rPr>
              <a:t>Quiz–Quiz–Trade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B54C5-0BF9-4DB1-8C53-D48A6003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2720"/>
                </a:solidFill>
                <a:latin typeface="Arial"/>
                <a:ea typeface="Arial"/>
                <a:cs typeface="Arial"/>
              </a:rPr>
              <a:t>[Add your topic or retrieval focus]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8EB00-4518-4899-B7E5-4620D573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Recall independently first. Check and improve after feedback.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C7E97-95BC-4230-9E6B-83092674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4006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[Prompt or card front]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[Add your own prompt]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21D2A-B489-418B-903C-94982721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90750"/>
            <a:ext cx="54006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[Checked answer or card back]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[Add the answer and explanation]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76448-4449-44EC-B12C-82B3B579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Time: [Add minutes]     Check: [Add your feedback routine]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F1044-08F1-44A0-A525-5627B788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7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75C"/>
                </a:solidFill>
                <a:latin typeface="Arial"/>
                <a:ea typeface="Arial"/>
                <a:cs typeface="Arial"/>
              </a:rPr>
              <a:t>TNT Teaching Tools   Editable classroom template   Source and teacher guidance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5849199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C6E8A-904D-403B-87C9-D3050397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42720"/>
                </a:solidFill>
                <a:latin typeface="Arial"/>
                <a:ea typeface="Arial"/>
                <a:cs typeface="Arial"/>
              </a:rPr>
              <a:t>Retrieval Roulette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507B7-D270-4CB2-B96B-26DAC9D5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2720"/>
                </a:solidFill>
                <a:latin typeface="Arial"/>
                <a:ea typeface="Arial"/>
                <a:cs typeface="Arial"/>
              </a:rPr>
              <a:t>[Add your topic or retrieval focus]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14EF7-15C3-4315-8040-C05D3041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Recall independently first. Check and improve after feedback.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7CE00-FFAD-4EE9-B96B-8BA00D77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4006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1. [Add a previously taught prompt]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CD204-C4B4-4A83-96E0-9E4BF30A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90750"/>
            <a:ext cx="54006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2. [Add a previously taught prompt]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E5A13-AC84-4EC1-8A7F-F37680C6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54006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3. [Add a previously taught prompt]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5F3D6-8C83-49E0-9555-2FBDAF3C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943350"/>
            <a:ext cx="54006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4. [Add a previously taught prompt]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A48923-9952-4F20-9D1F-CE476277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Time: [Add minutes]     Check: [Add your feedback routine]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04E9E-3878-4388-8BFB-FE8FCEFC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7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75C"/>
                </a:solidFill>
                <a:latin typeface="Arial"/>
                <a:ea typeface="Arial"/>
                <a:cs typeface="Arial"/>
              </a:rPr>
              <a:t>TNT Teaching Tools   Editable classroom template   Source and teacher guidance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17233074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7A737A-5E50-4006-80EF-AE990DE5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42720"/>
                </a:solidFill>
                <a:latin typeface="Arial"/>
                <a:ea typeface="Arial"/>
                <a:cs typeface="Arial"/>
              </a:rPr>
              <a:t>Flashcard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AE8C8-B6B3-4E66-A324-60C6F0AB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2720"/>
                </a:solidFill>
                <a:latin typeface="Arial"/>
                <a:ea typeface="Arial"/>
                <a:cs typeface="Arial"/>
              </a:rPr>
              <a:t>[Add your topic or retrieval focus]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8321F-5F8F-4B88-B9BE-EA6DC60A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Recall independently first. Check and improve after feedback.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FA1D3-4867-4E57-9C86-B316AD51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4006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[Prompt or card front]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[Add your own prompt]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658FE-5C00-45EF-926B-95F48B05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90750"/>
            <a:ext cx="54006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[Checked answer or card back]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[Add the answer and explanation]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F8411-80D8-4145-A4D5-231D8CB0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Time: [Add minutes]     Check: [Add your feedback routine]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40B60-54BA-4724-860F-8CE003A1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7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75C"/>
                </a:solidFill>
                <a:latin typeface="Arial"/>
                <a:ea typeface="Arial"/>
                <a:cs typeface="Arial"/>
              </a:rPr>
              <a:t>TNT Teaching Tools   Editable classroom template   Source and teacher guidance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1372125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2887FF-E103-44E2-92DE-69DAE3BF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42720"/>
                </a:solidFill>
                <a:latin typeface="Arial"/>
                <a:ea typeface="Arial"/>
                <a:cs typeface="Arial"/>
              </a:rPr>
              <a:t>Whiteboard recall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A87D8-A91A-4742-888C-4EBECFA5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2720"/>
                </a:solidFill>
                <a:latin typeface="Arial"/>
                <a:ea typeface="Arial"/>
                <a:cs typeface="Arial"/>
              </a:rPr>
              <a:t>[Add your topic or retrieval focus]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D7899-98B8-4790-884C-7AE190F9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Recall independently first. Check and improve after feedback.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ABE485-49E0-4F51-A74A-6D7C8A59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2720"/>
                </a:solidFill>
                <a:latin typeface="Arial"/>
                <a:ea typeface="Arial"/>
                <a:cs typeface="Arial"/>
              </a:rPr>
              <a:t>[Add your retrieval prompt]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FC64C-D8ED-492B-80BD-BCEE21C4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2720"/>
                </a:solidFill>
                <a:latin typeface="Arial"/>
                <a:ea typeface="Arial"/>
                <a:cs typeface="Arial"/>
              </a:rPr>
              <a:t>Think and write. Keep your board hidden until the signal.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EDA18-102D-4C67-8178-D4F3C42D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Time: [Add minutes]     Check: [Add your feedback routine]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584863-28CC-4973-BC77-A73D8386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7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75C"/>
                </a:solidFill>
                <a:latin typeface="Arial"/>
                <a:ea typeface="Arial"/>
                <a:cs typeface="Arial"/>
              </a:rPr>
              <a:t>TNT Teaching Tools   Editable classroom template   Source and teacher guidance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2163760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C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474C98-423D-4093-8293-B3E5B510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42720"/>
                </a:solidFill>
                <a:latin typeface="Arial"/>
                <a:ea typeface="Arial"/>
                <a:cs typeface="Arial"/>
              </a:rPr>
              <a:t>Concept map from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3FB9E-B9A8-4B14-972E-25CBEFC0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2720"/>
                </a:solidFill>
                <a:latin typeface="Arial"/>
                <a:ea typeface="Arial"/>
                <a:cs typeface="Arial"/>
              </a:rPr>
              <a:t>[Add your topic or retrieval focus]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B79E3-8B18-4522-B8D5-1712FD35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Recall independently first. Check and improve after feedback.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54BAF-2167-4CC9-A1D1-B9378579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1950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2720"/>
                </a:solidFill>
                <a:latin typeface="Arial"/>
                <a:ea typeface="Arial"/>
                <a:cs typeface="Arial"/>
              </a:rPr>
              <a:t>[Topic]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026C4-5716-4F58-80C8-06428F58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52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[Idea or concept]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83569-E8D1-4098-BB5C-9203B03D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3581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[Idea or concept]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98C5D-19F6-41FD-8F3F-60819861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352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[Idea or concept]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8F1DA-37AB-4A8E-910A-A08B9356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10125"/>
            <a:ext cx="3581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[Idea or concept]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B255B-7943-47E3-9A46-52C2866A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24375"/>
            <a:ext cx="381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720"/>
                </a:solidFill>
                <a:latin typeface="Arial"/>
                <a:ea typeface="Arial"/>
                <a:cs typeface="Arial"/>
              </a:rPr>
              <a:t>Add remembered ideas and label the connections.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DA3777-3C83-4683-8CD3-38A80607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Time: [Add minutes]     Check: [Add your feedback routine]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6C3B4-B5C1-4920-81C2-C44EE8F1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7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75C"/>
                </a:solidFill>
                <a:latin typeface="Arial"/>
                <a:ea typeface="Arial"/>
                <a:cs typeface="Arial"/>
              </a:rPr>
              <a:t>TNT Teaching Tools   Editable classroom template   Source and teacher guidance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10116025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C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6417E-91AF-47B2-89F8-1E56EE22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42720"/>
                </a:solidFill>
                <a:latin typeface="Arial"/>
                <a:ea typeface="Arial"/>
                <a:cs typeface="Arial"/>
              </a:rPr>
              <a:t>Picture prompts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8081B-9F8F-4BF4-977E-0DA634B2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2720"/>
                </a:solidFill>
                <a:latin typeface="Arial"/>
                <a:ea typeface="Arial"/>
                <a:cs typeface="Arial"/>
              </a:rPr>
              <a:t>[Add your topic or retrieval focus]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AEC4A-14A0-4021-877F-E79562A1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Recall independently first. Check and improve after feedback.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30A5D-A9B4-4E55-AF39-08F29950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4006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[Insert a familiar image]</a:t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Hide answer labels before recall.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3E1693-15AC-481E-A645-3C9B86C8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90750"/>
            <a:ext cx="54006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[Add recall instructions]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[Add checked labels or explanations to reveal later]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C05B2-E18C-4CB2-A521-A93CA672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Time: [Add minutes]     Check: [Add your feedback routine]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899FE-924F-4ACB-9138-9F97F47D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7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75C"/>
                </a:solidFill>
                <a:latin typeface="Arial"/>
                <a:ea typeface="Arial"/>
                <a:cs typeface="Arial"/>
              </a:rPr>
              <a:t>TNT Teaching Tools   Editable classroom template   Source and teacher guidance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17116927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C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A942F-C85B-4758-8E44-F3C5A6E1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42720"/>
                </a:solidFill>
                <a:latin typeface="Arial"/>
                <a:ea typeface="Arial"/>
                <a:cs typeface="Arial"/>
              </a:rPr>
              <a:t>List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7BC58-5646-4017-BF62-7ADF8E5D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2720"/>
                </a:solidFill>
                <a:latin typeface="Arial"/>
                <a:ea typeface="Arial"/>
                <a:cs typeface="Arial"/>
              </a:rPr>
              <a:t>[Add your topic or retrieval focus]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EC5B8-F630-4ABF-A6BA-15547E76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Recall independently first. Check and improve after feedback.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138E8-A052-45F0-82C3-4FAF045C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42720"/>
                </a:solidFill>
                <a:latin typeface="Arial"/>
                <a:ea typeface="Arial"/>
                <a:cs typeface="Arial"/>
              </a:rPr>
              <a:t>[Add a category and an achievable list length]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06BF7-0673-4023-83EB-76E8EE3E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2720"/>
                </a:solidFill>
                <a:latin typeface="Arial"/>
                <a:ea typeface="Arial"/>
                <a:cs typeface="Arial"/>
              </a:rPr>
              <a:t>Explain why one item belongs in the category.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CD4AB-BAA7-47A7-9002-F61AB404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Time: [Add minutes]     Check: [Add your feedback routine]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E25E4-79E6-4335-8797-8087C104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7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75C"/>
                </a:solidFill>
                <a:latin typeface="Arial"/>
                <a:ea typeface="Arial"/>
                <a:cs typeface="Arial"/>
              </a:rPr>
              <a:t>TNT Teaching Tools   Editable classroom template   Source and teacher guidance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19565696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C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76A4E-3B64-4307-A22A-7C1302FD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42720"/>
                </a:solidFill>
                <a:latin typeface="Arial"/>
                <a:ea typeface="Arial"/>
                <a:cs typeface="Arial"/>
              </a:rPr>
              <a:t>Retrieval placemat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239F8-F9D1-4C66-9E6F-A8510E8D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2720"/>
                </a:solidFill>
                <a:latin typeface="Arial"/>
                <a:ea typeface="Arial"/>
                <a:cs typeface="Arial"/>
              </a:rPr>
              <a:t>[Add your topic or retrieval focus]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A4086-BE78-4C9A-B4F5-E888DA30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Recall independently first. Check and improve after feedback.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EA139-80C9-48B5-9B0F-7C4E1D21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4006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Learner 1</a:t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Independent recall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45A47-98E8-460D-A4BA-29A8AB6F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90750"/>
            <a:ext cx="54006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Learner 2</a:t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Independent recall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F107B3-F1F0-4A92-B30E-7C493963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54006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Learner 3</a:t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Independent recall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30B96-8142-4CAC-8941-3AF8514A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657600"/>
            <a:ext cx="54006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Learner 4</a:t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Independent 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607B05-A87B-4F28-A56B-B8DDE9C8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Shared ideas after discussion: [Add your instructions]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FCC6A-BECB-47DC-87F9-DD5E4BF7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Time: [Add minutes]     Check: [Add your feedback routine]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E00D9-B151-46B9-98AB-E434FE5D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7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75C"/>
                </a:solidFill>
                <a:latin typeface="Arial"/>
                <a:ea typeface="Arial"/>
                <a:cs typeface="Arial"/>
              </a:rPr>
              <a:t>TNT Teaching Tools   Editable classroom template   Source and teacher guidance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6994292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C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A7847-B086-4B31-92D7-35AE3E34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42720"/>
                </a:solidFill>
                <a:latin typeface="Arial"/>
                <a:ea typeface="Arial"/>
                <a:cs typeface="Arial"/>
              </a:rPr>
              <a:t>Roll and retrieve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E7A4B-769E-4D78-B576-29C64729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2720"/>
                </a:solidFill>
                <a:latin typeface="Arial"/>
                <a:ea typeface="Arial"/>
                <a:cs typeface="Arial"/>
              </a:rPr>
              <a:t>[Add your topic or retrieval focus]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E0B6C-A690-4016-91DB-570D2260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Recall independently first. Check and improve after feedback.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6619F-830A-487D-BF0E-1BCAEAC2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543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1. [Add a prompt]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53F04-59BB-4E4D-9207-51A9DBD7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543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2. [Add a prompt]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E31DE-60FD-4CB0-80FB-6EF66E38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3543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3. [Add a prompt]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2CBB0A-9C69-4AFA-94FF-E0EB8893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3543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4. [Add a prompt]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9DBB3-3643-41C9-AA79-D1260C31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43350"/>
            <a:ext cx="3543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5. [Add a prompt]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E54A2-82C9-4EAC-A51A-4E5E0AE4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43350"/>
            <a:ext cx="3543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6. [Add a prompt]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8158EE-AD00-4995-8B04-4A1447EB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Time: [Add minutes]     Check: [Add your feedback routine]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4810D-5DC5-4631-8184-BAA9C510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7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75C"/>
                </a:solidFill>
                <a:latin typeface="Arial"/>
                <a:ea typeface="Arial"/>
                <a:cs typeface="Arial"/>
              </a:rPr>
              <a:t>TNT Teaching Tools   Editable classroom template   Source and teacher guidance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21001336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C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501E5-00AB-44F0-B4C8-FCF20B70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42720"/>
                </a:solidFill>
                <a:latin typeface="Arial"/>
                <a:ea typeface="Arial"/>
                <a:cs typeface="Arial"/>
              </a:rPr>
              <a:t>Retrieval clock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0900E-DF6E-4363-9F3D-549D8AEA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2720"/>
                </a:solidFill>
                <a:latin typeface="Arial"/>
                <a:ea typeface="Arial"/>
                <a:cs typeface="Arial"/>
              </a:rPr>
              <a:t>[Add your topic or retrieval focus]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006A4-3063-4FF2-8B20-ADD1D86B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Recall independently first. Check and improve after feedback.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28B9D-C116-4447-9592-46A4879C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4006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12 to 3</a:t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[Add a subtopic]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87AE9-4F88-4A0F-AF7B-5848F9A1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90750"/>
            <a:ext cx="54006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3 to 6</a:t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[Add a subtopic]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04ABE-6731-4964-8F57-12335BF8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54006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9 to 12</a:t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[Add a subtopic]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4B4FE-1BEC-413E-8229-971FB473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943350"/>
            <a:ext cx="54006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6 to 9</a:t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[Add a subtopic]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556DDB-F57E-4F30-BE5A-2E3E874E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Time: [Add minutes]     Check: [Add your feedback routine]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A329E-EFFD-4501-8851-63931881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7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75C"/>
                </a:solidFill>
                <a:latin typeface="Arial"/>
                <a:ea typeface="Arial"/>
                <a:cs typeface="Arial"/>
              </a:rPr>
              <a:t>TNT Teaching Tools   Editable classroom template   Source and teacher guidance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19164572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2026-10-07T03:42:52.7350000Z</dcterms:created>
  <dcterms:modified xsi:type="dcterms:W3CDTF">2026-10-07T03:42:52.7360000Z</dcterms:modified>
</coreProperties>
</file>